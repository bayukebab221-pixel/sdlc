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1"/>
  </p:notesMasterIdLst>
  <p:handoutMasterIdLst>
    <p:handoutMasterId r:id="rId12"/>
  </p:handoutMasterIdLst>
  <p:sldIdLst>
    <p:sldId id="256" r:id="rId5"/>
    <p:sldId id="279" r:id="rId6"/>
    <p:sldId id="285" r:id="rId7"/>
    <p:sldId id="282" r:id="rId8"/>
    <p:sldId id="286" r:id="rId9"/>
    <p:sldId id="28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Morph, Annotate, Work Together, Tell Me" id="{B9B51309-D148-4332-87C2-07BE32FBCA3B}">
          <p14:sldIdLst>
            <p14:sldId id="279"/>
            <p14:sldId id="285"/>
            <p14:sldId id="282"/>
            <p14:sldId id="286"/>
            <p14:sldId id="283"/>
          </p14:sldIdLst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462F"/>
    <a:srgbClr val="D24726"/>
    <a:srgbClr val="404040"/>
    <a:srgbClr val="FF9B45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241" autoAdjust="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711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7/20/2026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anchor="ctr" anchorCtr="0">
            <a:normAutofit/>
          </a:bodyPr>
          <a:lstStyle/>
          <a:p>
            <a:r>
              <a:rPr lang="en-US" sz="8800" b="1" spc="600" dirty="0">
                <a:solidFill>
                  <a:schemeClr val="bg1"/>
                </a:solidFill>
                <a:latin typeface="Arial Black" panose="020B0A04020102020204" pitchFamily="34" charset="0"/>
              </a:rPr>
              <a:t>SDLC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spc="600" dirty="0">
                <a:solidFill>
                  <a:schemeClr val="bg1"/>
                </a:solidFill>
                <a:latin typeface="+mj-lt"/>
              </a:rPr>
              <a:t>SOFTWARE DEVELOPMENT LIFE CYCLE</a:t>
            </a:r>
          </a:p>
        </p:txBody>
      </p:sp>
      <p:pic>
        <p:nvPicPr>
          <p:cNvPr id="4" name="Picture 3" descr="PowerPoint program icon"/>
          <p:cNvPicPr>
            <a:picLocks noChangeAspect="1"/>
          </p:cNvPicPr>
          <p:nvPr/>
        </p:nvPicPr>
        <p:blipFill>
          <a:blip r:embed="rId3"/>
          <a:srcRect/>
          <a:stretch/>
        </p:blipFill>
        <p:spPr bwMode="invGray">
          <a:xfrm>
            <a:off x="670216" y="5193062"/>
            <a:ext cx="822960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3F25148-8CB6-4BA5-9918-E231F4CE2428}"/>
              </a:ext>
            </a:extLst>
          </p:cNvPr>
          <p:cNvSpPr/>
          <p:nvPr/>
        </p:nvSpPr>
        <p:spPr>
          <a:xfrm>
            <a:off x="848139" y="3962400"/>
            <a:ext cx="7871791" cy="715617"/>
          </a:xfrm>
          <a:prstGeom prst="rect">
            <a:avLst/>
          </a:prstGeom>
          <a:solidFill>
            <a:srgbClr val="D247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E76B0F-2764-4FC8-AFAF-9888E8E62A58}"/>
              </a:ext>
            </a:extLst>
          </p:cNvPr>
          <p:cNvSpPr/>
          <p:nvPr/>
        </p:nvSpPr>
        <p:spPr>
          <a:xfrm>
            <a:off x="5108189" y="1603513"/>
            <a:ext cx="6765759" cy="12449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BEAC9A06-F357-4DB2-862C-3629FB062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58722"/>
            <a:ext cx="6877119" cy="640080"/>
          </a:xfrm>
        </p:spPr>
        <p:txBody>
          <a:bodyPr/>
          <a:lstStyle/>
          <a:p>
            <a:r>
              <a:rPr lang="en-US" b="1" dirty="0" err="1">
                <a:latin typeface="Arial Black" panose="020B0A04020102020204" pitchFamily="34" charset="0"/>
              </a:rPr>
              <a:t>Apa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itu</a:t>
            </a:r>
            <a:r>
              <a:rPr lang="en-US" b="1" dirty="0">
                <a:latin typeface="Arial Black" panose="020B0A04020102020204" pitchFamily="34" charset="0"/>
              </a:rPr>
              <a:t> SDLC?</a:t>
            </a:r>
            <a:endParaRPr lang="en-ID" b="1" dirty="0">
              <a:latin typeface="Arial Black" panose="020B0A04020102020204" pitchFamily="34" charset="0"/>
            </a:endParaRPr>
          </a:p>
        </p:txBody>
      </p:sp>
      <p:sp>
        <p:nvSpPr>
          <p:cNvPr id="41" name="Title 7">
            <a:extLst>
              <a:ext uri="{FF2B5EF4-FFF2-40B4-BE49-F238E27FC236}">
                <a16:creationId xmlns:a16="http://schemas.microsoft.com/office/drawing/2014/main" id="{5F2FFEE8-0316-49B6-BB61-9363EFC05259}"/>
              </a:ext>
            </a:extLst>
          </p:cNvPr>
          <p:cNvSpPr txBox="1">
            <a:spLocks/>
          </p:cNvSpPr>
          <p:nvPr/>
        </p:nvSpPr>
        <p:spPr>
          <a:xfrm>
            <a:off x="-194411" y="1073427"/>
            <a:ext cx="6877119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2" name="Content Placeholder 17">
            <a:extLst>
              <a:ext uri="{FF2B5EF4-FFF2-40B4-BE49-F238E27FC236}">
                <a16:creationId xmlns:a16="http://schemas.microsoft.com/office/drawing/2014/main" id="{F5DE364D-4C74-4AC2-8AA9-BD2CF6D194E0}"/>
              </a:ext>
            </a:extLst>
          </p:cNvPr>
          <p:cNvSpPr txBox="1">
            <a:spLocks/>
          </p:cNvSpPr>
          <p:nvPr/>
        </p:nvSpPr>
        <p:spPr>
          <a:xfrm>
            <a:off x="521207" y="2428927"/>
            <a:ext cx="4586982" cy="12449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SDLC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software development life cycle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sebuah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tahapan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sistematis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dilalui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oleh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tim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IT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software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enginerer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mengembangkan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membangun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perangkat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lunak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seperti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website,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dll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3B122EE9-732F-491F-AD2B-83CA0AC70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6524" y="1494182"/>
            <a:ext cx="6364269" cy="424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0017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7301EEE-58D1-4F97-A3F1-DC1B39B6E58C}"/>
              </a:ext>
            </a:extLst>
          </p:cNvPr>
          <p:cNvSpPr/>
          <p:nvPr/>
        </p:nvSpPr>
        <p:spPr>
          <a:xfrm>
            <a:off x="9660835" y="5314122"/>
            <a:ext cx="1881808" cy="15992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Apa</a:t>
            </a: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saja</a:t>
            </a: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tahapanya</a:t>
            </a: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?</a:t>
            </a:r>
          </a:p>
        </p:txBody>
      </p:sp>
      <p:sp>
        <p:nvSpPr>
          <p:cNvPr id="25" name="Content Placeholder 17"/>
          <p:cNvSpPr txBox="1">
            <a:spLocks/>
          </p:cNvSpPr>
          <p:nvPr/>
        </p:nvSpPr>
        <p:spPr>
          <a:xfrm>
            <a:off x="541609" y="1455491"/>
            <a:ext cx="5110161" cy="471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How it works:</a:t>
            </a:r>
          </a:p>
        </p:txBody>
      </p:sp>
      <p:grpSp>
        <p:nvGrpSpPr>
          <p:cNvPr id="18" name="Group 17" descr="Small circle with number 1 inside  indicating step 1"/>
          <p:cNvGrpSpPr/>
          <p:nvPr/>
        </p:nvGrpSpPr>
        <p:grpSpPr bwMode="blackWhite">
          <a:xfrm>
            <a:off x="531552" y="1917997"/>
            <a:ext cx="558179" cy="409838"/>
            <a:chOff x="6953426" y="711274"/>
            <a:chExt cx="558179" cy="409838"/>
          </a:xfrm>
        </p:grpSpPr>
        <p:sp>
          <p:nvSpPr>
            <p:cNvPr id="19" name="Oval 18" descr="Small circle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TextBox 19" descr="Number 1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21" name="Content Placeholder 17"/>
          <p:cNvSpPr txBox="1">
            <a:spLocks/>
          </p:cNvSpPr>
          <p:nvPr/>
        </p:nvSpPr>
        <p:spPr>
          <a:xfrm>
            <a:off x="1056513" y="1958189"/>
            <a:ext cx="4585731" cy="596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r>
              <a:rPr lang="en-ID" b="1" u="none" strike="noStrike" dirty="0">
                <a:effectLst/>
                <a:latin typeface="Google Sans"/>
              </a:rPr>
              <a:t>Planning (</a:t>
            </a:r>
            <a:r>
              <a:rPr lang="en-ID" b="1" u="none" strike="noStrike" dirty="0" err="1">
                <a:effectLst/>
                <a:latin typeface="Google Sans"/>
              </a:rPr>
              <a:t>Perencanaan</a:t>
            </a:r>
            <a:r>
              <a:rPr lang="en-ID" b="1" u="none" strike="noStrike" dirty="0">
                <a:effectLst/>
                <a:latin typeface="Google Sans"/>
              </a:rPr>
              <a:t>):</a:t>
            </a:r>
            <a:r>
              <a:rPr lang="en-ID" dirty="0"/>
              <a:t> </a:t>
            </a:r>
            <a:r>
              <a:rPr lang="en-ID" dirty="0" err="1"/>
              <a:t>Menentukan</a:t>
            </a:r>
            <a:r>
              <a:rPr lang="en-ID" dirty="0"/>
              <a:t> </a:t>
            </a:r>
            <a:r>
              <a:rPr lang="en-ID" dirty="0" err="1"/>
              <a:t>tujuan</a:t>
            </a:r>
            <a:r>
              <a:rPr lang="en-ID" dirty="0"/>
              <a:t>, </a:t>
            </a:r>
            <a:r>
              <a:rPr lang="en-ID" dirty="0" err="1"/>
              <a:t>ruang</a:t>
            </a:r>
            <a:r>
              <a:rPr lang="en-ID" dirty="0"/>
              <a:t> </a:t>
            </a:r>
            <a:r>
              <a:rPr lang="en-ID" dirty="0" err="1"/>
              <a:t>lingkup</a:t>
            </a:r>
            <a:r>
              <a:rPr lang="en-ID" dirty="0"/>
              <a:t> </a:t>
            </a:r>
            <a:r>
              <a:rPr lang="en-ID" dirty="0" err="1"/>
              <a:t>proyek</a:t>
            </a:r>
            <a:r>
              <a:rPr lang="en-ID" dirty="0"/>
              <a:t>, </a:t>
            </a:r>
            <a:r>
              <a:rPr lang="en-ID" dirty="0" err="1"/>
              <a:t>estimasi</a:t>
            </a:r>
            <a:r>
              <a:rPr lang="en-ID" dirty="0"/>
              <a:t> </a:t>
            </a:r>
            <a:r>
              <a:rPr lang="en-ID" dirty="0" err="1"/>
              <a:t>anggaran</a:t>
            </a:r>
            <a:r>
              <a:rPr lang="en-ID" dirty="0"/>
              <a:t>, dan </a:t>
            </a:r>
            <a:r>
              <a:rPr lang="en-ID" dirty="0" err="1"/>
              <a:t>jadwal</a:t>
            </a:r>
            <a:r>
              <a:rPr lang="en-ID" dirty="0"/>
              <a:t>.</a:t>
            </a: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cs typeface="Segoe UI"/>
            </a:endParaRPr>
          </a:p>
        </p:txBody>
      </p:sp>
      <p:grpSp>
        <p:nvGrpSpPr>
          <p:cNvPr id="33" name="Group 32" descr="Small circle with number 2 inside  indicating step 2"/>
          <p:cNvGrpSpPr/>
          <p:nvPr/>
        </p:nvGrpSpPr>
        <p:grpSpPr bwMode="blackWhite">
          <a:xfrm>
            <a:off x="531552" y="2804257"/>
            <a:ext cx="558179" cy="409838"/>
            <a:chOff x="6953426" y="711274"/>
            <a:chExt cx="558179" cy="409838"/>
          </a:xfrm>
        </p:grpSpPr>
        <p:sp>
          <p:nvSpPr>
            <p:cNvPr id="34" name="Oval 33" descr="Small circle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TextBox 34" descr="Number 2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2</a:t>
              </a:r>
            </a:p>
          </p:txBody>
        </p:sp>
      </p:grpSp>
      <p:grpSp>
        <p:nvGrpSpPr>
          <p:cNvPr id="22" name="Group 21" descr="Small circle with number 3 inside  indicating step 3"/>
          <p:cNvGrpSpPr/>
          <p:nvPr/>
        </p:nvGrpSpPr>
        <p:grpSpPr bwMode="blackWhite">
          <a:xfrm>
            <a:off x="531552" y="3639066"/>
            <a:ext cx="558179" cy="409838"/>
            <a:chOff x="6953426" y="711274"/>
            <a:chExt cx="558179" cy="409838"/>
          </a:xfrm>
        </p:grpSpPr>
        <p:sp>
          <p:nvSpPr>
            <p:cNvPr id="24" name="Oval 23" descr="Small circle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TextBox 29" descr="Number 3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32" name="Content Placeholder 17"/>
          <p:cNvSpPr txBox="1">
            <a:spLocks/>
          </p:cNvSpPr>
          <p:nvPr/>
        </p:nvSpPr>
        <p:spPr>
          <a:xfrm>
            <a:off x="1056513" y="4236460"/>
            <a:ext cx="4504252" cy="761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cs typeface="Segoe UI"/>
            </a:endParaRPr>
          </a:p>
        </p:txBody>
      </p:sp>
      <p:sp>
        <p:nvSpPr>
          <p:cNvPr id="38" name="Oval 37" descr="Small circle"/>
          <p:cNvSpPr/>
          <p:nvPr/>
        </p:nvSpPr>
        <p:spPr bwMode="blackWhite">
          <a:xfrm>
            <a:off x="603195" y="4514381"/>
            <a:ext cx="409838" cy="409838"/>
          </a:xfrm>
          <a:prstGeom prst="ellipse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40" name="Content Placeholder 17"/>
          <p:cNvSpPr txBox="1">
            <a:spLocks/>
          </p:cNvSpPr>
          <p:nvPr/>
        </p:nvSpPr>
        <p:spPr>
          <a:xfrm>
            <a:off x="1056513" y="5177572"/>
            <a:ext cx="4504252" cy="563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2000"/>
              </a:spcAft>
              <a:buNone/>
              <a:defRPr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CB674C7-C7CA-4BEB-9B2F-57D6A9F16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1374" y="2882748"/>
            <a:ext cx="539002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Design (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Perancangan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):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Membuat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cetak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biru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(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blueprint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)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seperti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arsitektur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sistem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desain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antarmuka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(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UI/UX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), dan database.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3BB81FD-820D-4BB1-AF4D-23DD8AFA3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1374" y="3717125"/>
            <a:ext cx="648031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Development (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Pengembangan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):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Penulisan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kode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(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coding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) oleh para programmer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untuk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membangun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sistem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TextBox 30" descr="Number 4">
            <a:extLst>
              <a:ext uri="{FF2B5EF4-FFF2-40B4-BE49-F238E27FC236}">
                <a16:creationId xmlns:a16="http://schemas.microsoft.com/office/drawing/2014/main" id="{BEDD4856-747B-4CDA-8FEC-2E39FB4C30BC}"/>
              </a:ext>
            </a:extLst>
          </p:cNvPr>
          <p:cNvSpPr txBox="1">
            <a:spLocks noChangeAspect="1"/>
          </p:cNvSpPr>
          <p:nvPr/>
        </p:nvSpPr>
        <p:spPr bwMode="blackWhite">
          <a:xfrm>
            <a:off x="744147" y="4627717"/>
            <a:ext cx="55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4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39585BB-DA05-479D-B374-85AB39C2B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1374" y="4693386"/>
            <a:ext cx="6096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Testing (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Pengujian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):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Memastikan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perangkat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lunak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bebas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dari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bug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dan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berfungsi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sesuai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harapan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814748-AA57-4BCD-83BB-2242EE904044}"/>
              </a:ext>
            </a:extLst>
          </p:cNvPr>
          <p:cNvSpPr/>
          <p:nvPr/>
        </p:nvSpPr>
        <p:spPr>
          <a:xfrm flipH="1">
            <a:off x="10707756" y="4627717"/>
            <a:ext cx="1484243" cy="2285658"/>
          </a:xfrm>
          <a:prstGeom prst="rect">
            <a:avLst/>
          </a:prstGeom>
          <a:solidFill>
            <a:srgbClr val="D247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CFEF29-7E49-4DC5-83BA-BB5DECCD1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9873" y="1542431"/>
            <a:ext cx="2862770" cy="190668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DDBE659-DF0E-40CC-9470-79D020C991E2}"/>
              </a:ext>
            </a:extLst>
          </p:cNvPr>
          <p:cNvSpPr/>
          <p:nvPr/>
        </p:nvSpPr>
        <p:spPr>
          <a:xfrm>
            <a:off x="8825949" y="6032105"/>
            <a:ext cx="848139" cy="881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587808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13F3B1E-22D3-4AB7-A4ED-B2BBFAEBA8F9}"/>
              </a:ext>
            </a:extLst>
          </p:cNvPr>
          <p:cNvSpPr/>
          <p:nvPr/>
        </p:nvSpPr>
        <p:spPr>
          <a:xfrm>
            <a:off x="642662" y="2093843"/>
            <a:ext cx="4598504" cy="304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C6D1F-FE3F-4852-B5A2-71A325508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Kenapa</a:t>
            </a:r>
            <a:r>
              <a:rPr lang="en-US" dirty="0"/>
              <a:t> SDLC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penting</a:t>
            </a:r>
            <a:r>
              <a:rPr lang="en-US" dirty="0"/>
              <a:t>?</a:t>
            </a:r>
            <a:endParaRPr lang="en-ID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5124582-20E4-4796-B1D4-8D75E605A7E8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539750" y="1951360"/>
            <a:ext cx="4416425" cy="29457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895F8A-4305-4B90-9298-EC00FB78ADDD}"/>
              </a:ext>
            </a:extLst>
          </p:cNvPr>
          <p:cNvSpPr txBox="1"/>
          <p:nvPr/>
        </p:nvSpPr>
        <p:spPr>
          <a:xfrm>
            <a:off x="5526156" y="2639407"/>
            <a:ext cx="40286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SDLC sangat 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penting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meningkatkan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kualitas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produk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perangkat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lunak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dibuat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dikembangkan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perangkat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lunak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telah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dikembangkan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berpotensi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menarik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endParaRPr lang="en-ID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077215-6F74-49D9-8C5E-3C27668035D0}"/>
              </a:ext>
            </a:extLst>
          </p:cNvPr>
          <p:cNvSpPr/>
          <p:nvPr/>
        </p:nvSpPr>
        <p:spPr>
          <a:xfrm>
            <a:off x="10972800" y="4651512"/>
            <a:ext cx="1219200" cy="2206487"/>
          </a:xfrm>
          <a:prstGeom prst="rect">
            <a:avLst/>
          </a:prstGeom>
          <a:solidFill>
            <a:srgbClr val="DD462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302D64-09CB-4B1B-998E-4EA860966AD9}"/>
              </a:ext>
            </a:extLst>
          </p:cNvPr>
          <p:cNvSpPr/>
          <p:nvPr/>
        </p:nvSpPr>
        <p:spPr>
          <a:xfrm>
            <a:off x="10283688" y="5141843"/>
            <a:ext cx="980661" cy="17161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450390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13F3B1E-22D3-4AB7-A4ED-B2BBFAEBA8F9}"/>
              </a:ext>
            </a:extLst>
          </p:cNvPr>
          <p:cNvSpPr/>
          <p:nvPr/>
        </p:nvSpPr>
        <p:spPr>
          <a:xfrm>
            <a:off x="2965036" y="4187687"/>
            <a:ext cx="4721225" cy="212035"/>
          </a:xfrm>
          <a:prstGeom prst="rect">
            <a:avLst/>
          </a:prstGeom>
          <a:solidFill>
            <a:srgbClr val="DD462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C6D1F-FE3F-4852-B5A2-71A325508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6569" y="355291"/>
            <a:ext cx="6877119" cy="64008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Arial Black" panose="020B0A04020102020204" pitchFamily="34" charset="0"/>
              </a:rPr>
              <a:t>KESIMPULAN?</a:t>
            </a:r>
            <a:endParaRPr lang="en-ID" sz="3600" b="1" dirty="0">
              <a:latin typeface="Arial Black" panose="020B0A04020102020204" pitchFamily="34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5124582-20E4-4796-B1D4-8D75E605A7E8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 flipH="1" flipV="1">
            <a:off x="834888" y="1105472"/>
            <a:ext cx="155574" cy="1037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895F8A-4305-4B90-9298-EC00FB78ADDD}"/>
              </a:ext>
            </a:extLst>
          </p:cNvPr>
          <p:cNvSpPr txBox="1"/>
          <p:nvPr/>
        </p:nvSpPr>
        <p:spPr>
          <a:xfrm>
            <a:off x="2743200" y="3011439"/>
            <a:ext cx="52876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SDLC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tahap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yang sangat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penting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mengembangkan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perangkat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lunak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seperti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website,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dll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meningkatkan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kualitas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produk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meningkatkan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daya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Tarik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pasaran</a:t>
            </a:r>
            <a:endParaRPr lang="en-ID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077215-6F74-49D9-8C5E-3C27668035D0}"/>
              </a:ext>
            </a:extLst>
          </p:cNvPr>
          <p:cNvSpPr/>
          <p:nvPr/>
        </p:nvSpPr>
        <p:spPr>
          <a:xfrm>
            <a:off x="3604590" y="6104725"/>
            <a:ext cx="4002157" cy="934278"/>
          </a:xfrm>
          <a:prstGeom prst="rect">
            <a:avLst/>
          </a:prstGeom>
          <a:solidFill>
            <a:srgbClr val="DD462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302D64-09CB-4B1B-998E-4EA860966AD9}"/>
              </a:ext>
            </a:extLst>
          </p:cNvPr>
          <p:cNvSpPr/>
          <p:nvPr/>
        </p:nvSpPr>
        <p:spPr>
          <a:xfrm>
            <a:off x="5115339" y="5532782"/>
            <a:ext cx="980661" cy="17161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319952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anchor="ctr" anchorCtr="0">
            <a:normAutofit/>
          </a:bodyPr>
          <a:lstStyle/>
          <a:p>
            <a:r>
              <a:rPr lang="en-US" sz="8800" b="1" spc="600" dirty="0">
                <a:solidFill>
                  <a:schemeClr val="bg1"/>
                </a:solidFill>
                <a:latin typeface="Arial Black" panose="020B0A04020102020204" pitchFamily="34" charset="0"/>
              </a:rPr>
              <a:t>TERIMAKASIH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spc="600" dirty="0">
                <a:solidFill>
                  <a:schemeClr val="bg1"/>
                </a:solidFill>
                <a:latin typeface="+mj-lt"/>
              </a:rPr>
              <a:t>SOFTWARE DEVELOPMENT LIFE CYCLE</a:t>
            </a:r>
          </a:p>
        </p:txBody>
      </p:sp>
      <p:pic>
        <p:nvPicPr>
          <p:cNvPr id="4" name="Picture 3" descr="PowerPoint program icon"/>
          <p:cNvPicPr>
            <a:picLocks noChangeAspect="1"/>
          </p:cNvPicPr>
          <p:nvPr/>
        </p:nvPicPr>
        <p:blipFill>
          <a:blip r:embed="rId3"/>
          <a:srcRect/>
          <a:stretch/>
        </p:blipFill>
        <p:spPr bwMode="invGray">
          <a:xfrm>
            <a:off x="670216" y="5193062"/>
            <a:ext cx="822960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12103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 v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3EE4EA-81C0-48D0-BEBD-A2EFD6B38B4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563EE24-83AF-4B4D-B45B-11D1ECD436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2FC9C26-AD58-4393-99DE-F67958CF6A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{828CFA7E-C11C-4F5D-B125-1BEA9E9FD9C6}TF2989475c-5427-4edb-9ec1-00f4ce72165b77c8433f_win32-c33c42577f73</Template>
  <TotalTime>98</TotalTime>
  <Words>194</Words>
  <Application>Microsoft Office PowerPoint</Application>
  <PresentationFormat>Widescreen</PresentationFormat>
  <Paragraphs>23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Arial Black</vt:lpstr>
      <vt:lpstr>Calibri</vt:lpstr>
      <vt:lpstr>Google Sans</vt:lpstr>
      <vt:lpstr>Segoe UI</vt:lpstr>
      <vt:lpstr>Segoe UI Light</vt:lpstr>
      <vt:lpstr>Segoe UI Semibold</vt:lpstr>
      <vt:lpstr>Custom</vt:lpstr>
      <vt:lpstr>SDLC</vt:lpstr>
      <vt:lpstr>Apa itu SDLC?</vt:lpstr>
      <vt:lpstr>Apa saja tahapanya?</vt:lpstr>
      <vt:lpstr>Kenapa SDLC itu penting?</vt:lpstr>
      <vt:lpstr>KESIMPULAN?</vt:lpstr>
      <vt:lpstr>TERIMAKASIH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SDLC</dc:title>
  <dc:creator>LAB RPL 2 - PC 26</dc:creator>
  <cp:keywords/>
  <cp:lastModifiedBy>LAB RPL 2 - PC 26</cp:lastModifiedBy>
  <cp:revision>7</cp:revision>
  <dcterms:created xsi:type="dcterms:W3CDTF">2026-07-20T05:22:02Z</dcterms:created>
  <dcterms:modified xsi:type="dcterms:W3CDTF">2026-07-20T07:00:22Z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